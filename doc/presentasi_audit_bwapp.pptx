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8892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88920"/>
            <a:ext cx="12191695" cy="9144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3C2B2"/>
                </a:solidFill>
                <a:latin typeface="Calibri"/>
              </a:rPr>
              <a:t>VULNERABILITY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3700" b="1" i="0">
                <a:solidFill>
                  <a:srgbClr val="FFFFFF"/>
                </a:solidFill>
                <a:latin typeface="Calibri"/>
              </a:rPr>
              <a:t>LAPORAN AUDIT KEAMANAN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3700" b="1" i="0">
                <a:solidFill>
                  <a:srgbClr val="FFFFFF"/>
                </a:solidFill>
                <a:latin typeface="Calibri"/>
              </a:rPr>
              <a:t>APLIKASI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154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5B6779"/>
                </a:solidFill>
                <a:latin typeface="Calibri"/>
              </a:rPr>
              <a:t>Vulnerability Assessment terhadap bWAPP (Buggy Web Application)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886200"/>
            <a:ext cx="7680960" cy="2148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886200"/>
            <a:ext cx="109728" cy="214884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114800"/>
            <a:ext cx="713232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42A4F"/>
                </a:solidFill>
                <a:latin typeface="Calibri"/>
              </a:rPr>
              <a:t>Auditor:  </a:t>
            </a:r>
            <a:r>
              <a:rPr sz="1400" b="0" i="0">
                <a:solidFill>
                  <a:srgbClr val="1B2533"/>
                </a:solidFill>
                <a:latin typeface="Calibri"/>
              </a:rPr>
              <a:t>Ravi Arnan Irianto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42A4F"/>
                </a:solidFill>
                <a:latin typeface="Calibri"/>
              </a:rPr>
              <a:t>Mata Kuliah:  </a:t>
            </a:r>
            <a:r>
              <a:rPr sz="1400" b="0" i="0">
                <a:solidFill>
                  <a:srgbClr val="1B2533"/>
                </a:solidFill>
                <a:latin typeface="Calibri"/>
              </a:rPr>
              <a:t>IT Audit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42A4F"/>
                </a:solidFill>
                <a:latin typeface="Calibri"/>
              </a:rPr>
              <a:t>Target:  </a:t>
            </a:r>
            <a:r>
              <a:rPr sz="1400" b="0" i="0">
                <a:solidFill>
                  <a:srgbClr val="1B2533"/>
                </a:solidFill>
                <a:latin typeface="Calibri"/>
              </a:rPr>
              <a:t>bWAPP (OWASP)  -  Docker, http://localhost:8080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42A4F"/>
                </a:solidFill>
                <a:latin typeface="Calibri"/>
              </a:rPr>
              <a:t>Standar:  </a:t>
            </a:r>
            <a:r>
              <a:rPr sz="1400" b="0" i="0">
                <a:solidFill>
                  <a:srgbClr val="1B2533"/>
                </a:solidFill>
                <a:latin typeface="Calibri"/>
              </a:rPr>
              <a:t>OWASP Top 10 2021</a:t>
            </a:r>
          </a:p>
        </p:txBody>
      </p:sp>
      <p:pic>
        <p:nvPicPr>
          <p:cNvPr id="11" name="Picture 10" descr="unu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3977639"/>
            <a:ext cx="1631075" cy="18745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3C2B2"/>
                </a:solidFill>
                <a:latin typeface="Calibri"/>
              </a:rPr>
              <a:t>01  PENGENALAN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Apa itu bWAPP?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7D2DF"/>
                </a:solidFill>
                <a:latin typeface="Calibri"/>
              </a:rPr>
              <a:t>Audit Keamanan bWAPP   |   IT Audit   |   Ravi Arnan Irianto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2533"/>
                </a:solidFill>
                <a:latin typeface="Calibri"/>
              </a:rPr>
              <a:t>bWAPP (Buggy Web Application)</a:t>
            </a:r>
            <a:r>
              <a:rPr sz="1400" b="0" i="0">
                <a:solidFill>
                  <a:srgbClr val="1B2533"/>
                </a:solidFill>
                <a:latin typeface="Calibri"/>
              </a:rPr>
              <a:t> adalah aplikasi web PHP/MySQL yang </a:t>
            </a:r>
            <a:r>
              <a:rPr sz="1400" b="1" i="0">
                <a:solidFill>
                  <a:srgbClr val="C0392B"/>
                </a:solidFill>
                <a:latin typeface="Calibri"/>
              </a:rPr>
              <a:t>sengaja dibuat rentan</a:t>
            </a:r>
            <a:r>
              <a:rPr sz="1400" b="0" i="0">
                <a:solidFill>
                  <a:srgbClr val="1B2533"/>
                </a:solidFill>
                <a:latin typeface="Calibri"/>
              </a:rPr>
              <a:t> untuk tujuan edukasi keamanan, dikembangkan oleh Malik Mesellem. Aplikasi ini menjadi sarana legal untuk mempraktikkan teknik audit dan pengujian penetrasi dalam lingkungan terisolasi.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88920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788920"/>
            <a:ext cx="3657600" cy="10972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63240"/>
            <a:ext cx="3657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142A4F"/>
                </a:solidFill>
                <a:latin typeface="Calibri"/>
              </a:rPr>
              <a:t>100+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5020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B6779"/>
                </a:solidFill>
                <a:latin typeface="Calibri"/>
              </a:rPr>
              <a:t>Jenis kerentanan tersistematis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2788920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5112" y="2788920"/>
            <a:ext cx="3657600" cy="10972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5112" y="3063240"/>
            <a:ext cx="3657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142A4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395020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B6779"/>
                </a:solidFill>
                <a:latin typeface="Calibri"/>
              </a:rPr>
              <a:t>Tingkat kesulitan (Low / Medium / High)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47304" y="2788920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47304" y="2788920"/>
            <a:ext cx="3657600" cy="10972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47304" y="3063240"/>
            <a:ext cx="3657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142A4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395020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B6779"/>
                </a:solidFill>
                <a:latin typeface="Calibri"/>
              </a:rPr>
              <a:t>Metode deploy (Docker / Bee-Box VM)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800600"/>
            <a:ext cx="11183112" cy="822960"/>
          </a:xfrm>
          <a:prstGeom prst="roundRect">
            <a:avLst>
              <a:gd name="adj" fmla="val 8000"/>
            </a:avLst>
          </a:prstGeom>
          <a:solidFill>
            <a:srgbClr val="E5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800600"/>
            <a:ext cx="109728" cy="82296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800600"/>
            <a:ext cx="10972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42A4F"/>
                </a:solidFill>
                <a:latin typeface="Calibri"/>
              </a:rPr>
              <a:t>Catatan:  </a:t>
            </a:r>
            <a:r>
              <a:rPr sz="1300" b="0" i="0">
                <a:solidFill>
                  <a:srgbClr val="1B2533"/>
                </a:solidFill>
                <a:latin typeface="Calibri"/>
              </a:rPr>
              <a:t>bWAPP bukan aplikasi yang error, melainkan dirancang untuk dieksploitasi sebagai media latihan.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3C2B2"/>
                </a:solidFill>
                <a:latin typeface="Calibri"/>
              </a:rPr>
              <a:t>02  RELEVANSI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Kenapa bWAPP untuk IT Audit?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7D2DF"/>
                </a:solidFill>
                <a:latin typeface="Calibri"/>
              </a:rPr>
              <a:t>Audit Keamanan bWAPP   |   IT Audit   |   Ravi Arnan Irianto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64008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B2533"/>
                </a:solidFill>
                <a:latin typeface="Calibri"/>
              </a:rPr>
              <a:t>Coverage terluas: </a:t>
            </a:r>
            <a:r>
              <a:rPr sz="1400" b="0" i="0">
                <a:solidFill>
                  <a:srgbClr val="1B2533"/>
                </a:solidFill>
                <a:latin typeface="Calibri"/>
              </a:rPr>
              <a:t>100+ kerentanan dalam satu platform.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B2533"/>
                </a:solidFill>
                <a:latin typeface="Calibri"/>
              </a:rPr>
              <a:t>Selaras OWASP: </a:t>
            </a:r>
            <a:r>
              <a:rPr sz="1400" b="0" i="0">
                <a:solidFill>
                  <a:srgbClr val="1B2533"/>
                </a:solidFill>
                <a:latin typeface="Calibri"/>
              </a:rPr>
              <a:t>tiap bug mudah dipetakan ke framework standar.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B2533"/>
                </a:solidFill>
                <a:latin typeface="Calibri"/>
              </a:rPr>
              <a:t>Setup cepat: </a:t>
            </a:r>
            <a:r>
              <a:rPr sz="1400" b="0" i="0">
                <a:solidFill>
                  <a:srgbClr val="1B2533"/>
                </a:solidFill>
                <a:latin typeface="Calibri"/>
              </a:rPr>
              <a:t>siap pakai via Docker dalam hitungan menit.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B2533"/>
                </a:solidFill>
                <a:latin typeface="Calibri"/>
              </a:rPr>
              <a:t>Bertingkat: </a:t>
            </a:r>
            <a:r>
              <a:rPr sz="1400" b="0" i="0">
                <a:solidFill>
                  <a:srgbClr val="1B2533"/>
                </a:solidFill>
                <a:latin typeface="Calibri"/>
              </a:rPr>
              <a:t>3 level kesulitan untuk simulasi bertahap.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269480" y="1600200"/>
          <a:ext cx="443484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43200"/>
                <a:gridCol w="169164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anchor="ctr" marL="91440" marR="73152" marT="36576" marB="36576">
                    <a:solidFill>
                      <a:srgbClr val="142A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Jumlah Bug</a:t>
                      </a:r>
                    </a:p>
                  </a:txBody>
                  <a:tcPr anchor="ctr" marL="91440" marR="73152" marT="36576" marB="36576">
                    <a:solidFill>
                      <a:srgbClr val="142A4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bWAPP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100+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Juice Shop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~75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WebGoat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~35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DVWA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~15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4069080"/>
            <a:ext cx="4434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5B6779"/>
                </a:solidFill>
                <a:latin typeface="Calibri"/>
              </a:rPr>
              <a:t>bWAPP mengungguli platform sejenis dalam cakupan kerentanan.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3C2B2"/>
                </a:solidFill>
                <a:latin typeface="Calibri"/>
              </a:rPr>
              <a:t>03  LINGKUNGAN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Setup dan Lingkungan 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7D2DF"/>
                </a:solidFill>
                <a:latin typeface="Calibri"/>
              </a:rPr>
              <a:t>Audit Keamanan bWAPP   |   IT Audit   |   Ravi Arnan Irianto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42A4F"/>
                </a:solidFill>
                <a:latin typeface="Calibri"/>
              </a:rPr>
              <a:t>Deployment via Docker (terisolasi ke localhost):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8308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911095"/>
            <a:ext cx="5157216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FC276"/>
                </a:solidFill>
                <a:latin typeface="Consolas"/>
              </a:rPr>
              <a:t>$ docker run -d -p 8080:80 \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CFD9E0"/>
                </a:solidFill>
                <a:latin typeface="Consolas"/>
              </a:rPr>
              <a:t>    hackersploit/bwapp-docker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FC276"/>
                </a:solidFill>
                <a:latin typeface="Consolas"/>
              </a:rPr>
              <a:t># inisialisasi DB sekali: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CFD9E0"/>
                </a:solidFill>
                <a:latin typeface="Consolas"/>
              </a:rPr>
              <a:t>  http://localhost:8080/install.php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83280"/>
            <a:ext cx="5486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B2533"/>
                </a:solidFill>
                <a:latin typeface="Calibri"/>
              </a:rPr>
              <a:t>Akses: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http://localhost:8080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B2533"/>
                </a:solidFill>
                <a:latin typeface="Calibri"/>
              </a:rPr>
              <a:t>Login: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bee / bug (kredensial lab default)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B2533"/>
                </a:solidFill>
                <a:latin typeface="Calibri"/>
              </a:rPr>
              <a:t>Security level: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Low (security_level = 0)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B2533"/>
                </a:solidFill>
                <a:latin typeface="Calibri"/>
              </a:rPr>
              <a:t>Stack: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PHP 5.5.9, Apache 2.4.7, MySQL, Ubuntu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63040"/>
            <a:ext cx="5394960" cy="4069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6916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42A4F"/>
                </a:solidFill>
                <a:latin typeface="Calibri"/>
              </a:rPr>
              <a:t>Ruang Lingkup 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148840"/>
            <a:ext cx="48920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B2533"/>
                </a:solidFill>
                <a:latin typeface="Calibri"/>
              </a:rPr>
              <a:t>Jenis uji: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black-box dan grey-box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B2533"/>
                </a:solidFill>
                <a:latin typeface="Calibri"/>
              </a:rPr>
              <a:t>In-scope: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web app layer (injection, XSS, info disclosure, misconfig, header)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B2533"/>
                </a:solidFill>
                <a:latin typeface="Calibri"/>
              </a:rPr>
              <a:t>Out-of-scope: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audit OS/host, DoS, social engineering, sistem nyata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B2533"/>
                </a:solidFill>
                <a:latin typeface="Calibri"/>
              </a:rPr>
              <a:t>Sifat: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lab terisolasi, aplikasi sengaja rentan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3C2B2"/>
                </a:solidFill>
                <a:latin typeface="Calibri"/>
              </a:rPr>
              <a:t>04  METODOLOGI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Alur Audit: 5 Tahap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7D2DF"/>
                </a:solidFill>
                <a:latin typeface="Calibri"/>
              </a:rPr>
              <a:t>Audit Keamanan bWAPP   |   IT Audit   |   Ravi Arnan Irianto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0240"/>
            <a:ext cx="2176272" cy="3017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9576" y="2176272"/>
            <a:ext cx="822960" cy="822960"/>
          </a:xfrm>
          <a:prstGeom prst="ellipse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9576" y="2176272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154680"/>
            <a:ext cx="1956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42A4F"/>
                </a:solidFill>
                <a:latin typeface="Calibri"/>
              </a:rPr>
              <a:t>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749039"/>
            <a:ext cx="18470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6779"/>
                </a:solidFill>
                <a:latin typeface="Calibri"/>
              </a:rPr>
              <a:t>Deploy bWAPP via Docker dan verifikasi akses.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0903" y="242316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28C7E"/>
                </a:solidFill>
                <a:latin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70632" y="1920240"/>
            <a:ext cx="2176272" cy="3017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47288" y="2176272"/>
            <a:ext cx="822960" cy="822960"/>
          </a:xfrm>
          <a:prstGeom prst="ellipse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47288" y="2176272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154680"/>
            <a:ext cx="1956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42A4F"/>
                </a:solidFill>
                <a:latin typeface="Calibri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5224" y="3749039"/>
            <a:ext cx="18470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6779"/>
                </a:solidFill>
                <a:latin typeface="Calibri"/>
              </a:rPr>
              <a:t>Pilih kategori kerentanan dan tetapkan level kesulitan.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28616" y="242316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28C7E"/>
                </a:solidFill>
                <a:latin typeface="Calibri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38344" y="1920240"/>
            <a:ext cx="2176272" cy="3017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14999" y="2176272"/>
            <a:ext cx="822960" cy="822960"/>
          </a:xfrm>
          <a:prstGeom prst="ellipse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4999" y="2176272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8072" y="3154680"/>
            <a:ext cx="1956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42A4F"/>
                </a:solidFill>
                <a:latin typeface="Calibri"/>
              </a:rPr>
              <a:t>Pengujian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749039"/>
            <a:ext cx="18470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6779"/>
                </a:solidFill>
                <a:latin typeface="Calibri"/>
              </a:rPr>
              <a:t>Scan otomatis, eksploitasi terarah, verifikasi manual.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6328" y="242316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28C7E"/>
                </a:solidFill>
                <a:latin typeface="Calibri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06055" y="1920240"/>
            <a:ext cx="2176272" cy="3017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82712" y="2176272"/>
            <a:ext cx="822960" cy="822960"/>
          </a:xfrm>
          <a:prstGeom prst="ellipse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82712" y="2176272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15783" y="3154680"/>
            <a:ext cx="1956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42A4F"/>
                </a:solidFill>
                <a:latin typeface="Calibri"/>
              </a:rPr>
              <a:t>Analisis &amp; Mapping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0648" y="3749039"/>
            <a:ext cx="18470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6779"/>
                </a:solidFill>
                <a:latin typeface="Calibri"/>
              </a:rPr>
              <a:t>Petakan ke OWASP Top 10 2021, tetapkan severity.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242316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28C7E"/>
                </a:solidFill>
                <a:latin typeface="Calibr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73768" y="1920240"/>
            <a:ext cx="2176272" cy="3017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50424" y="2176272"/>
            <a:ext cx="822960" cy="822960"/>
          </a:xfrm>
          <a:prstGeom prst="ellipse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50424" y="2176272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83496" y="3154680"/>
            <a:ext cx="1956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42A4F"/>
                </a:solidFill>
                <a:latin typeface="Calibri"/>
              </a:rPr>
              <a:t>Pelaporan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8360" y="3749039"/>
            <a:ext cx="18470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6779"/>
                </a:solidFill>
                <a:latin typeface="Calibri"/>
              </a:rPr>
              <a:t>Susun temuan, bukti, dan rekomendasi remediasi.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3C2B2"/>
                </a:solidFill>
                <a:latin typeface="Calibri"/>
              </a:rPr>
              <a:t>04  METODOLOGI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Tools yang Digunakan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7D2DF"/>
                </a:solidFill>
                <a:latin typeface="Calibri"/>
              </a:rPr>
              <a:t>Audit Keamanan bWAPP   |   IT Audit   |   Ravi Arnan Irianto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463040"/>
          <a:ext cx="11183112" cy="3383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68880"/>
                <a:gridCol w="1554480"/>
                <a:gridCol w="7159752"/>
              </a:tblGrid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anchor="ctr" marL="91440" marR="73152" marT="36576" marB="36576">
                    <a:solidFill>
                      <a:srgbClr val="142A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Versi</a:t>
                      </a:r>
                    </a:p>
                  </a:txBody>
                  <a:tcPr anchor="ctr" marL="91440" marR="73152" marT="36576" marB="36576">
                    <a:solidFill>
                      <a:srgbClr val="142A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Fungsi</a:t>
                      </a:r>
                    </a:p>
                  </a:txBody>
                  <a:tcPr anchor="ctr" marL="91440" marR="73152" marT="36576" marB="36576">
                    <a:solidFill>
                      <a:srgbClr val="142A4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Nikto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2.1.5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Web server scanner (info disclosure, misconfiguration)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SQLMap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1.10.2.6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Deteksi dan eksploitasi SQL Injection otomatis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OWASP ZAP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2.17.0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Dynamic Application Security Testing (DAST)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Retire.js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5.4.3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Deteksi pustaka JavaScript usang (SCA)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Nmap + vulners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7.94SVN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Deteksi versi layanan dan pemetaan CVE server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Manual (curl, browser)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Verifikasi manual XSS dan kebocoran data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2920" y="5074920"/>
            <a:ext cx="11183112" cy="777240"/>
          </a:xfrm>
          <a:prstGeom prst="roundRect">
            <a:avLst>
              <a:gd name="adj" fmla="val 8000"/>
            </a:avLst>
          </a:prstGeom>
          <a:solidFill>
            <a:srgbClr val="E5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074920"/>
            <a:ext cx="109728" cy="77724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074920"/>
            <a:ext cx="10972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533"/>
                </a:solidFill>
                <a:latin typeface="Calibri"/>
              </a:rPr>
              <a:t>Kombinasi scan otomatis + eksploitasi terarah + analisis komponen + uji manual untuk menutup blind spot tiap tool.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3C2B2"/>
                </a:solidFill>
                <a:latin typeface="Calibri"/>
              </a:rPr>
              <a:t>05  HASIL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Ringkasan Eksekutif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7D2DF"/>
                </a:solidFill>
                <a:latin typeface="Calibri"/>
              </a:rPr>
              <a:t>Audit Keamanan bWAPP   |   IT Audit   |   Ravi Arnan Irianto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67665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B2533"/>
                </a:solidFill>
                <a:latin typeface="Calibri"/>
              </a:rPr>
              <a:t>Audit menemukan </a:t>
            </a:r>
            <a:r>
              <a:rPr sz="1400" b="1" i="0">
                <a:solidFill>
                  <a:srgbClr val="142A4F"/>
                </a:solidFill>
                <a:latin typeface="Calibri"/>
              </a:rPr>
              <a:t>5 area temuan utama</a:t>
            </a:r>
            <a:r>
              <a:rPr sz="1400" b="0" i="0">
                <a:solidFill>
                  <a:srgbClr val="1B2533"/>
                </a:solidFill>
                <a:latin typeface="Calibri"/>
              </a:rPr>
              <a:t> dengan severity Medium hingga Critical.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B2533"/>
                </a:solidFill>
                <a:latin typeface="Calibri"/>
              </a:rPr>
              <a:t>Dua temuan </a:t>
            </a:r>
            <a:r>
              <a:rPr sz="1400" b="1" i="0">
                <a:solidFill>
                  <a:srgbClr val="C0392B"/>
                </a:solidFill>
                <a:latin typeface="Calibri"/>
              </a:rPr>
              <a:t>Critical</a:t>
            </a:r>
            <a:r>
              <a:rPr sz="1400" b="0" i="0">
                <a:solidFill>
                  <a:srgbClr val="1B2533"/>
                </a:solidFill>
                <a:latin typeface="Calibri"/>
              </a:rPr>
              <a:t> memungkinkan penyerang mengambil alih data sensitif tanpa autentikasi: kebocoran kredensial melalui file konfigurasi yang terekspos, dan SQL Injection yang membongkar seluruh tabel pengguna termasuk akun admin.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B2533"/>
                </a:solidFill>
                <a:latin typeface="Calibri"/>
              </a:rPr>
              <a:t>Aplikasi juga rentan XSS, memakai komponen End-of-Life, dan memiliki sejumlah security misconfiguration.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463040"/>
            <a:ext cx="4050791" cy="4160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691640"/>
            <a:ext cx="40507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42A4F"/>
                </a:solidFill>
                <a:latin typeface="Calibri"/>
              </a:rPr>
              <a:t>Distribusi Severity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240280"/>
            <a:ext cx="341071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2240280"/>
            <a:ext cx="128016" cy="7132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240280"/>
            <a:ext cx="2194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2533"/>
                </a:solidFill>
                <a:latin typeface="Calibri"/>
              </a:rPr>
              <a:t>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240280"/>
            <a:ext cx="1143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C0392B"/>
                </a:solidFill>
                <a:latin typeface="Calibr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3081528"/>
            <a:ext cx="341071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3081528"/>
            <a:ext cx="128016" cy="713232"/>
          </a:xfrm>
          <a:prstGeom prst="rect">
            <a:avLst/>
          </a:prstGeom>
          <a:solidFill>
            <a:srgbClr val="D9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3081528"/>
            <a:ext cx="2194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2533"/>
                </a:solidFill>
                <a:latin typeface="Calibri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081528"/>
            <a:ext cx="1143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96B12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3922776"/>
            <a:ext cx="341071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79" y="3922776"/>
            <a:ext cx="128016" cy="713232"/>
          </a:xfrm>
          <a:prstGeom prst="rect">
            <a:avLst/>
          </a:prstGeom>
          <a:solidFill>
            <a:srgbClr val="B886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3922776"/>
            <a:ext cx="2194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2533"/>
                </a:solidFill>
                <a:latin typeface="Calibri"/>
              </a:rPr>
              <a:t>Medium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3922776"/>
            <a:ext cx="1143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B88609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4809744"/>
            <a:ext cx="3410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779"/>
                </a:solidFill>
                <a:latin typeface="Calibri"/>
              </a:rPr>
              <a:t>Total 5 temuan utama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779"/>
                </a:solidFill>
                <a:latin typeface="Calibri"/>
              </a:rPr>
              <a:t>(plus 6 temuan Low pendukung)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3C2B2"/>
                </a:solidFill>
                <a:latin typeface="Calibri"/>
              </a:rPr>
              <a:t>05  HASIL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Ringkasan Temuan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7D2DF"/>
                </a:solidFill>
                <a:latin typeface="Calibri"/>
              </a:rPr>
              <a:t>Audit Keamanan bWAPP   |   IT Audit   |   Ravi Arnan Irianto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554480"/>
          <a:ext cx="11183112" cy="38404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14400"/>
                <a:gridCol w="4572000"/>
                <a:gridCol w="1371600"/>
                <a:gridCol w="2286000"/>
                <a:gridCol w="2039112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anchor="ctr" marL="91440" marR="73152" marT="36576" marB="36576">
                    <a:solidFill>
                      <a:srgbClr val="142A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Temuan</a:t>
                      </a:r>
                    </a:p>
                  </a:txBody>
                  <a:tcPr anchor="ctr" marL="91440" marR="73152" marT="36576" marB="36576">
                    <a:solidFill>
                      <a:srgbClr val="142A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 anchor="ctr" marL="91440" marR="73152" marT="36576" marB="36576">
                    <a:solidFill>
                      <a:srgbClr val="142A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OWASP 2021</a:t>
                      </a:r>
                    </a:p>
                  </a:txBody>
                  <a:tcPr anchor="ctr" marL="91440" marR="73152" marT="36576" marB="36576">
                    <a:solidFill>
                      <a:srgbClr val="142A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anchor="ctr" marL="91440" marR="73152" marT="36576" marB="36576">
                    <a:solidFill>
                      <a:srgbClr val="142A4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F-01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Sensitive Data Exposure (kredensial bocor)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C0392B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A01, A02, A05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Nikto + manual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F-02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SQL Injection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C0392B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A03, A02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SQLMap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F-03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Cross-Site Scripting (Reflected + Stored)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D96B1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A03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Manual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F-04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Security Misconfiguration &amp; Missing Headers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B88609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A05, A01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OWASP ZAP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F-05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Vulnerable &amp; Outdated Components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D96B1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A06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Retire.js + Nmap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3C2B2"/>
                </a:solidFill>
                <a:latin typeface="Calibri"/>
              </a:rPr>
              <a:t>06  TEMUAN TERPERINCI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F-01   Sensitive Data Exposure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59975" y="347472"/>
            <a:ext cx="1828800" cy="420624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59975" y="347472"/>
            <a:ext cx="1828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7D2DF"/>
                </a:solidFill>
                <a:latin typeface="Calibri"/>
              </a:rPr>
              <a:t>Audit Keamanan bWAPP   |   IT Audit   |   Ravi Arnan Irianto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58368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2984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OWASP 2021:  </a:t>
            </a:r>
            <a:r>
              <a:rPr sz="1150" b="0" i="0">
                <a:solidFill>
                  <a:srgbClr val="5B6779"/>
                </a:solidFill>
                <a:latin typeface="Calibri"/>
              </a:rPr>
              <a:t>A01 Broken Access Control, A02 Cryptographic Failures, A05 Security Misconfiguration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83080"/>
            <a:ext cx="5532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533"/>
                </a:solidFill>
                <a:latin typeface="Calibri"/>
              </a:rPr>
              <a:t>File konfigurasi dan backup berisi kredensial dapat diakses publik tanpa autentikasi. Directory indexing yang aktif menampilkan isi folder sensitif seperti /passwords/.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54680"/>
            <a:ext cx="5532120" cy="786384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154680"/>
            <a:ext cx="109728" cy="7863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54680"/>
            <a:ext cx="51206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Dampak:  </a:t>
            </a:r>
            <a:r>
              <a:rPr sz="1200" b="0" i="0">
                <a:solidFill>
                  <a:srgbClr val="1B2533"/>
                </a:solidFill>
                <a:latin typeface="Calibri"/>
              </a:rPr>
              <a:t>kredensial DB diperoleh tanpa eksploitasi, berpotensi full database compromise.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14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42A4F"/>
                </a:solidFill>
                <a:latin typeface="Calibri"/>
              </a:rPr>
              <a:t>Rekomendasi Remediasi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80560"/>
            <a:ext cx="55321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Matikan directory indexing (Options -Indexes).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Hapus file backup (.bak, .inc, .old) dari web root.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Pindahkan file konfigurasi ke luar document root.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Jangan simpan password plaintext, gunakan hashing kuat.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Hapus installer (install.php) setelah instalasi.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78308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Bukti: config.inc terekspos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093976"/>
            <a:ext cx="5440680" cy="4078224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1" y="2221992"/>
            <a:ext cx="5111496" cy="3822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FC276"/>
                </a:solidFill>
                <a:latin typeface="Consolas"/>
              </a:rPr>
              <a:t>$ curl http://localhost:8080/config.inc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FC276"/>
                </a:solidFill>
                <a:latin typeface="Consolas"/>
              </a:rPr>
              <a:t>$server   = "localhost";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FC276"/>
                </a:solidFill>
                <a:latin typeface="Consolas"/>
              </a:rPr>
              <a:t>$username = "bwapp";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FC276"/>
                </a:solidFill>
                <a:latin typeface="Consolas"/>
              </a:rPr>
              <a:t>$password = "bwApped";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FC276"/>
                </a:solidFill>
                <a:latin typeface="Consolas"/>
              </a:rPr>
              <a:t>$database = "bWAPP";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/passwords/ -&gt; heroes.xml,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   web.config.bak, wp-config.bak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   (password plaintext)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3C2B2"/>
                </a:solidFill>
                <a:latin typeface="Calibri"/>
              </a:rPr>
              <a:t>06  TEMUAN TERPERINCI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F-02   SQL Injection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59975" y="347472"/>
            <a:ext cx="1828800" cy="420624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59975" y="347472"/>
            <a:ext cx="1828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7D2DF"/>
                </a:solidFill>
                <a:latin typeface="Calibri"/>
              </a:rPr>
              <a:t>Audit Keamanan bWAPP   |   IT Audit   |   Ravi Arnan Irianto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58368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2984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OWASP 2021:  </a:t>
            </a:r>
            <a:r>
              <a:rPr sz="1150" b="0" i="0">
                <a:solidFill>
                  <a:srgbClr val="5B6779"/>
                </a:solidFill>
                <a:latin typeface="Calibri"/>
              </a:rPr>
              <a:t>A03 Injection, A02 Cryptographic Failures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83080"/>
            <a:ext cx="5532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533"/>
                </a:solidFill>
                <a:latin typeface="Calibri"/>
              </a:rPr>
              <a:t>Parameter title pada modul SQL Injection (GET/Search) tidak disanitasi, sehingga input pengguna dieksekusi langsung sebagai bagian dari query SQL.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54680"/>
            <a:ext cx="5532120" cy="786384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154680"/>
            <a:ext cx="109728" cy="7863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54680"/>
            <a:ext cx="51206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Dampak:  </a:t>
            </a:r>
            <a:r>
              <a:rPr sz="1200" b="0" i="0">
                <a:solidFill>
                  <a:srgbClr val="1B2533"/>
                </a:solidFill>
                <a:latin typeface="Calibri"/>
              </a:rPr>
              <a:t>akses baca penuh ke database; hash SHA1 unsalted mudah dipecahkan.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14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42A4F"/>
                </a:solidFill>
                <a:latin typeface="Calibri"/>
              </a:rPr>
              <a:t>Rekomendasi Remediasi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80560"/>
            <a:ext cx="55321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Gunakan prepared statements / parameterized query (PDO, MySQLi).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Terapkan input validation berbasis whitelist.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Ganti hashing password ke bcrypt atau argon2 dengan salt unik.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Terapkan least privilege pada akun database aplikasi.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78308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Bukti: SQLMap dump bWAPP.users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093976"/>
            <a:ext cx="5440680" cy="4078224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1" y="2221992"/>
            <a:ext cx="5111496" cy="3822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Parameter 'title' rentan 4 teknik: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boolean-blind, error, time-blind, UNION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Database: bWAPP  Table: users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id | login  | admin | password(SHA1)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1  | A.I.M. |  1    | 6885858486..affd0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2  | bee    |  1    | 6885858486..affd0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echo -n "bug" | sha1sum -&gt; match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Password admin dipulihkan: "bug"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3C2B2"/>
                </a:solidFill>
                <a:latin typeface="Calibri"/>
              </a:rPr>
              <a:t>06  TEMUAN TERPERINCI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F-03   Cross-Site Scripting (XSS)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59975" y="347472"/>
            <a:ext cx="1828800" cy="420624"/>
          </a:xfrm>
          <a:prstGeom prst="roundRect">
            <a:avLst>
              <a:gd name="adj" fmla="val 8000"/>
            </a:avLst>
          </a:prstGeom>
          <a:solidFill>
            <a:srgbClr val="D9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59975" y="347472"/>
            <a:ext cx="1828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7D2DF"/>
                </a:solidFill>
                <a:latin typeface="Calibri"/>
              </a:rPr>
              <a:t>Audit Keamanan bWAPP   |   IT Audit   |   Ravi Arnan Irianto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58368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2984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OWASP 2021:  </a:t>
            </a:r>
            <a:r>
              <a:rPr sz="1150" b="0" i="0">
                <a:solidFill>
                  <a:srgbClr val="5B6779"/>
                </a:solidFill>
                <a:latin typeface="Calibri"/>
              </a:rPr>
              <a:t>A03 Injection (Cross-Site Scripting)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83080"/>
            <a:ext cx="5532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533"/>
                </a:solidFill>
                <a:latin typeface="Calibri"/>
              </a:rPr>
              <a:t>Aplikasi tidak melakukan output encoding maupun sanitasi input. Ditemukan dua varian: Reflected (GET) dan Stored (Blog) yang tersimpan permanen.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54680"/>
            <a:ext cx="5532120" cy="786384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154680"/>
            <a:ext cx="109728" cy="786384"/>
          </a:xfrm>
          <a:prstGeom prst="rect">
            <a:avLst/>
          </a:prstGeom>
          <a:solidFill>
            <a:srgbClr val="D9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54680"/>
            <a:ext cx="51206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D96B12"/>
                </a:solidFill>
                <a:latin typeface="Calibri"/>
              </a:rPr>
              <a:t>Dampak:  </a:t>
            </a:r>
            <a:r>
              <a:rPr sz="1200" b="0" i="0">
                <a:solidFill>
                  <a:srgbClr val="1B2533"/>
                </a:solidFill>
                <a:latin typeface="Calibri"/>
              </a:rPr>
              <a:t>pencurian session cookie, session hijacking, defacement, phishing. Diperparah cookie tanpa HttpOnly.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14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42A4F"/>
                </a:solidFill>
                <a:latin typeface="Calibri"/>
              </a:rPr>
              <a:t>Rekomendasi Remediasi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80560"/>
            <a:ext cx="55321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Terapkan output encoding sesuai konteks (htmlspecialchars).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Lakukan input validation di sisi server.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Pasang Content Security Policy (CSP).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Set flag HttpOnly dan Secure pada cookie session.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78308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Bukti: payload tereksekusi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093976"/>
            <a:ext cx="5440680" cy="4078224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1" y="2221992"/>
            <a:ext cx="5111496" cy="3822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Reflected (xss_get.php, firstname):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Welcome &lt;script&gt;alert('XSS-bWAPP')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        &lt;/script&gt; test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Stored (xss_stored_1.php):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&lt;td&gt;&lt;script&gt;alert('Stored-XSS-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     by-Audit')&lt;/script&gt;&lt;/td&gt;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(payload stored telah dibersihkan)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3C2B2"/>
                </a:solidFill>
                <a:latin typeface="Calibri"/>
              </a:rPr>
              <a:t>06  TEMUAN TERPERINCI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F-04   Security Misconfiguration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59975" y="347472"/>
            <a:ext cx="1828800" cy="420624"/>
          </a:xfrm>
          <a:prstGeom prst="roundRect">
            <a:avLst>
              <a:gd name="adj" fmla="val 8000"/>
            </a:avLst>
          </a:prstGeom>
          <a:solidFill>
            <a:srgbClr val="B886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59975" y="347472"/>
            <a:ext cx="1828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7D2DF"/>
                </a:solidFill>
                <a:latin typeface="Calibri"/>
              </a:rPr>
              <a:t>Audit Keamanan bWAPP   |   IT Audit   |   Ravi Arnan Irianto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58368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2984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OWASP 2021:  </a:t>
            </a:r>
            <a:r>
              <a:rPr sz="1150" b="0" i="0">
                <a:solidFill>
                  <a:srgbClr val="5B6779"/>
                </a:solidFill>
                <a:latin typeface="Calibri"/>
              </a:rPr>
              <a:t>A05 Security Misconfiguration, A01 Broken Access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83080"/>
            <a:ext cx="5532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533"/>
                </a:solidFill>
                <a:latin typeface="Calibri"/>
              </a:rPr>
              <a:t>OWASP ZAP menemukan sejumlah kesalahan konfigurasi dan header keamanan yang hilang: total 5 temuan Medium dan 6 temuan Low pendukung.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54680"/>
            <a:ext cx="5532120" cy="786384"/>
          </a:xfrm>
          <a:prstGeom prst="roundRect">
            <a:avLst>
              <a:gd name="adj" fmla="val 8000"/>
            </a:avLst>
          </a:prstGeom>
          <a:solidFill>
            <a:srgbClr val="FB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154680"/>
            <a:ext cx="109728" cy="786384"/>
          </a:xfrm>
          <a:prstGeom prst="rect">
            <a:avLst/>
          </a:prstGeom>
          <a:solidFill>
            <a:srgbClr val="B886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54680"/>
            <a:ext cx="51206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B88609"/>
                </a:solidFill>
                <a:latin typeface="Calibri"/>
              </a:rPr>
              <a:t>Dampak:  </a:t>
            </a:r>
            <a:r>
              <a:rPr sz="1200" b="0" i="0">
                <a:solidFill>
                  <a:srgbClr val="1B2533"/>
                </a:solidFill>
                <a:latin typeface="Calibri"/>
              </a:rPr>
              <a:t>memperbesar peluang CSRF, clickjacking, dan info disclosure bagi penyerang.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14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42A4F"/>
                </a:solidFill>
                <a:latin typeface="Calibri"/>
              </a:rPr>
              <a:t>Rekomendasi Remediasi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80560"/>
            <a:ext cx="55321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Tambahkan token Anti-CSRF unik pada setiap form pengubah state.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Set header CSP, X-Frame-Options, X-Content-Type-Options: nosniff.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Set flag HttpOnly, Secure, SameSite pada cookie.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Gunakan custom error page; sembunyikan banner versi.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Update komponen EOL (PHP 5.5.9, Apache 2.4.7).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78308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Bukti: temuan Medium dari ZAP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093976"/>
            <a:ext cx="5440680" cy="4078224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1" y="2221992"/>
            <a:ext cx="5111496" cy="3822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- Absence of Anti-CSRF Tokens   (CWE-352)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- Application Error Disclosure  (CWE-550)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- CSP Header Not Set            (CWE-693)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- Directory Browsing            (CWE-548)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- Missing Anti-clickjacking     (CWE-1021)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Low: cookie tanpa HttpOnly/SameSite,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banner Apache/2.4.7 &amp; PHP/5.5.9 bocor,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X-Content-Type-Options tak diset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3C2B2"/>
                </a:solidFill>
                <a:latin typeface="Calibri"/>
              </a:rPr>
              <a:t>06  TEMUAN TERPERINCI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F-05   Vulnerable &amp; Outdated 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59975" y="347472"/>
            <a:ext cx="1828800" cy="420624"/>
          </a:xfrm>
          <a:prstGeom prst="roundRect">
            <a:avLst>
              <a:gd name="adj" fmla="val 8000"/>
            </a:avLst>
          </a:prstGeom>
          <a:solidFill>
            <a:srgbClr val="D9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59975" y="347472"/>
            <a:ext cx="1828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7D2DF"/>
                </a:solidFill>
                <a:latin typeface="Calibri"/>
              </a:rPr>
              <a:t>Audit Keamanan bWAPP   |   IT Audit   |   Ravi Arnan Irianto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58368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2984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OWASP 2021:  </a:t>
            </a:r>
            <a:r>
              <a:rPr sz="1150" b="0" i="0">
                <a:solidFill>
                  <a:srgbClr val="5B6779"/>
                </a:solidFill>
                <a:latin typeface="Calibri"/>
              </a:rPr>
              <a:t>A06 Vulnerable and Outdated Components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83080"/>
            <a:ext cx="5532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533"/>
                </a:solidFill>
                <a:latin typeface="Calibri"/>
              </a:rPr>
              <a:t>Aplikasi berjalan di atas komponen End-of-Life pada sisi klien (jQuery) dan server (Apache, PHP) yang tidak lagi menerima patch keamanan.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54680"/>
            <a:ext cx="5532120" cy="786384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154680"/>
            <a:ext cx="109728" cy="786384"/>
          </a:xfrm>
          <a:prstGeom prst="rect">
            <a:avLst/>
          </a:prstGeom>
          <a:solidFill>
            <a:srgbClr val="D9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54680"/>
            <a:ext cx="51206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D96B12"/>
                </a:solidFill>
                <a:latin typeface="Calibri"/>
              </a:rPr>
              <a:t>Dampak:  </a:t>
            </a:r>
            <a:r>
              <a:rPr sz="1200" b="0" i="0">
                <a:solidFill>
                  <a:srgbClr val="1B2533"/>
                </a:solidFill>
                <a:latin typeface="Calibri"/>
              </a:rPr>
              <a:t>permukaan serangan luas (XSS, prototype pollution, request smuggling) dengan banyak exploit publik.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14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42A4F"/>
                </a:solidFill>
                <a:latin typeface="Calibri"/>
              </a:rPr>
              <a:t>Rekomendasi Remediasi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80560"/>
            <a:ext cx="55321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Perbarui jQuery ke versi didukung (3.5.0+).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Update Apache; migrasikan PHP 5.5.9 ke PHP 8.x.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Terapkan patch management dan SCA berkala.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Skor per-CVE potensial (berbasis banner); fakta EOL terkonfirmasi High.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78308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Bukti: Retire.js + Nmap vulners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093976"/>
            <a:ext cx="5440680" cy="4078224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1" y="2221992"/>
            <a:ext cx="5111496" cy="3822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jQuery 1.4.4 (2010, EOL) -&gt; 7 CVE: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CVE-2020-11023, CVE-2019-11358,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CVE-2020-7656, CVE-2015-9251, dll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Apache httpd 2.4.7 (Ubuntu):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vulners cocokkan 106 CVE unik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(Critical 24 | High 42 | Medium 40)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PHP 5.5.9 -&gt; EOL sejak Juli 2016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3C2B2"/>
                </a:solidFill>
                <a:latin typeface="Calibri"/>
              </a:rPr>
              <a:t>07  CATATAN METODOLOGI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Keterbatasan Automated Scanner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7D2DF"/>
                </a:solidFill>
                <a:latin typeface="Calibri"/>
              </a:rPr>
              <a:t>Audit Keamanan bWAPP   |   IT Audit   |   Ravi Arnan Irianto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63040"/>
            <a:ext cx="11183112" cy="914400"/>
          </a:xfrm>
          <a:prstGeom prst="roundRect">
            <a:avLst>
              <a:gd name="adj" fmla="val 8000"/>
            </a:avLst>
          </a:prstGeom>
          <a:solidFill>
            <a:srgbClr val="FB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63040"/>
            <a:ext cx="109728" cy="914400"/>
          </a:xfrm>
          <a:prstGeom prst="rect">
            <a:avLst/>
          </a:prstGeom>
          <a:solidFill>
            <a:srgbClr val="D9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D96B12"/>
                </a:solidFill>
                <a:latin typeface="Calibri"/>
              </a:rPr>
              <a:t>OWASP ZAP melaporkan 0 temuan High</a:t>
            </a:r>
            <a:r>
              <a:rPr sz="1350" b="0" i="0">
                <a:solidFill>
                  <a:srgbClr val="1B2533"/>
                </a:solidFill>
                <a:latin typeface="Calibri"/>
              </a:rPr>
              <a:t>, padahal pengujian manual dan SQLMap membuktikan adanya SQL Injection (Critical) dan Stored XSS (High) pada aplikasi yang sama.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06040"/>
            <a:ext cx="1118311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42A4F"/>
                </a:solidFill>
                <a:latin typeface="Calibri"/>
              </a:rPr>
              <a:t>Penyebab:  </a:t>
            </a:r>
            <a:r>
              <a:rPr sz="1300" b="0" i="0">
                <a:solidFill>
                  <a:srgbClr val="1B2533"/>
                </a:solidFill>
                <a:latin typeface="Calibri"/>
              </a:rPr>
              <a:t>ZAP hanya meng-crawl halaman permukaan dan tidak masuk ke modul kerentanan di balik autentikasi atau yang tidak ter-link otomatis. Automated DAST scanner memiliki blind spot, sehingga audit yang baik wajib mengombinasikan scan otomatis, eksploitasi terarah, dan uji manual.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77639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42A4F"/>
                </a:solidFill>
                <a:latin typeface="Calibri"/>
              </a:rPr>
              <a:t>Cross-Validation  (dikonfirmasi 2 tool berbeda: Nikto + ZAP)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89120"/>
            <a:ext cx="10972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B2533"/>
                </a:solidFill>
                <a:latin typeface="Calibri"/>
              </a:rPr>
              <a:t>Directory Browsing aktif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B2533"/>
                </a:solidFill>
                <a:latin typeface="Calibri"/>
              </a:rPr>
              <a:t>Kebocoran banner versi server (Apache/2.4.7)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B2533"/>
                </a:solidFill>
                <a:latin typeface="Calibri"/>
              </a:rPr>
              <a:t>Missing X-Frame-Options (anti-clickjacking)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B2533"/>
                </a:solidFill>
                <a:latin typeface="Calibri"/>
              </a:rPr>
              <a:t>Cookie session tanpa flag HttpOnly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3C2B2"/>
                </a:solidFill>
                <a:latin typeface="Calibri"/>
              </a:rPr>
              <a:t>08  ETIKA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Best Practice dan Keamanan 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7D2DF"/>
                </a:solidFill>
                <a:latin typeface="Calibri"/>
              </a:rPr>
              <a:t>Audit Keamanan bWAPP   |   IT Audit   |   Ravi Arnan Irianto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0876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508760"/>
            <a:ext cx="5486400" cy="548640"/>
          </a:xfrm>
          <a:prstGeom prst="roundRect">
            <a:avLst>
              <a:gd name="adj" fmla="val 8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  YANG HARUS DILAKUKAN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4983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Bind Docker hanya ke localhost.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Gunakan Host-only Adapter pada VM.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Ambil snapshot sebelum eksploitasi.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Dokumentasikan setiap langkah (payload, screenshot, respons).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Bersihkan payload stored setelah verifikasi.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0876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508760"/>
            <a:ext cx="5486400" cy="54864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508760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✗  YANG TIDAK BOLEH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86000"/>
            <a:ext cx="4983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Expose port ke jaringan publik.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Menjalankan di komputer produksi.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Menggunakan payload terhadap target nyata tanpa izin tertulis (ilegal).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Memperlakukan data dump sebagai kredensial nyata (ini user seeded bWAPP).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3C2B2"/>
                </a:solidFill>
                <a:latin typeface="Calibri"/>
              </a:rPr>
              <a:t>09  KESIMPULAN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Kesimpulan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7D2DF"/>
                </a:solidFill>
                <a:latin typeface="Calibri"/>
              </a:rPr>
              <a:t>Audit Keamanan bWAPP   |   IT Audit   |   Ravi Arnan Irianto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00200"/>
            <a:ext cx="11183112" cy="768096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00200"/>
            <a:ext cx="109728" cy="768096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600200"/>
            <a:ext cx="106984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42A4F"/>
                </a:solidFill>
                <a:latin typeface="Calibri"/>
              </a:rPr>
              <a:t>Kerentanan serius dan beragam.  </a:t>
            </a:r>
            <a:r>
              <a:rPr sz="1300" b="0" i="0">
                <a:solidFill>
                  <a:srgbClr val="1B2533"/>
                </a:solidFill>
                <a:latin typeface="Calibri"/>
              </a:rPr>
              <a:t>bWAPP mencakup mayoritas kategori OWASP Top 10 2021.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478024"/>
            <a:ext cx="11183112" cy="768096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478024"/>
            <a:ext cx="109728" cy="768096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478024"/>
            <a:ext cx="106984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42A4F"/>
                </a:solidFill>
                <a:latin typeface="Calibri"/>
              </a:rPr>
              <a:t>Dua Critical jadi prioritas.  </a:t>
            </a:r>
            <a:r>
              <a:rPr sz="1300" b="0" i="0">
                <a:solidFill>
                  <a:srgbClr val="1B2533"/>
                </a:solidFill>
                <a:latin typeface="Calibri"/>
              </a:rPr>
              <a:t>Sensitive Data Exposure dan SQL Injection memungkinkan kompromi data langsung.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55848"/>
            <a:ext cx="11183112" cy="768096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355848"/>
            <a:ext cx="109728" cy="768096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355848"/>
            <a:ext cx="106984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42A4F"/>
                </a:solidFill>
                <a:latin typeface="Calibri"/>
              </a:rPr>
              <a:t>Komponen usang memperluas serangan.  </a:t>
            </a:r>
            <a:r>
              <a:rPr sz="1300" b="0" i="0">
                <a:solidFill>
                  <a:srgbClr val="1B2533"/>
                </a:solidFill>
                <a:latin typeface="Calibri"/>
              </a:rPr>
              <a:t>A06: jQuery 1.4.4, Apache 2.4.7, dan PHP 5.5.9 sudah End-of-Life.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233672"/>
            <a:ext cx="11183112" cy="768096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233672"/>
            <a:ext cx="109728" cy="768096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233672"/>
            <a:ext cx="106984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42A4F"/>
                </a:solidFill>
                <a:latin typeface="Calibri"/>
              </a:rPr>
              <a:t>Kombinasi metode terbukti penting.  </a:t>
            </a:r>
            <a:r>
              <a:rPr sz="1300" b="0" i="0">
                <a:solidFill>
                  <a:srgbClr val="1B2533"/>
                </a:solidFill>
                <a:latin typeface="Calibri"/>
              </a:rPr>
              <a:t>Tidak ada satu tool pun yang menemukan seluruh kerentanan.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111496"/>
            <a:ext cx="11183112" cy="768096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111496"/>
            <a:ext cx="109728" cy="768096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111496"/>
            <a:ext cx="106984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42A4F"/>
                </a:solidFill>
                <a:latin typeface="Calibri"/>
              </a:rPr>
              <a:t>Media latihan audit yang efektif.  </a:t>
            </a:r>
            <a:r>
              <a:rPr sz="1300" b="0" i="0">
                <a:solidFill>
                  <a:srgbClr val="1B2533"/>
                </a:solidFill>
                <a:latin typeface="Calibri"/>
              </a:rPr>
              <a:t>Dari identifikasi, eksploitasi, hingga rekomendasi selaras standar industri.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240280"/>
            <a:ext cx="2926080" cy="10972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46888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53C2B2"/>
                </a:solidFill>
                <a:latin typeface="Calibri"/>
              </a:rPr>
              <a:t>Ada pertanyaan?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520440"/>
            <a:ext cx="8138160" cy="219456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3520440"/>
            <a:ext cx="109728" cy="219456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7589520" cy="1783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53C2B2"/>
                </a:solidFill>
                <a:latin typeface="Calibri"/>
              </a:rPr>
              <a:t>Auditor: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Ravi Arnan Irianto  -  Mata Kuliah IT Audit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53C2B2"/>
                </a:solidFill>
                <a:latin typeface="Calibri"/>
              </a:rPr>
              <a:t>Demo cepat: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http://localhost:8080  (login bee / bug)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53C2B2"/>
                </a:solidFill>
                <a:latin typeface="Calibri"/>
              </a:rPr>
              <a:t>Referensi: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owasp.org/Top10  -  itsecgames.com</a:t>
            </a:r>
          </a:p>
        </p:txBody>
      </p:sp>
      <p:pic>
        <p:nvPicPr>
          <p:cNvPr id="9" name="Picture 8" descr="unu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3566160"/>
            <a:ext cx="1829988" cy="2103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
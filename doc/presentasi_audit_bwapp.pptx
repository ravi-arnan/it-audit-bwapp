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26280"/>
            <a:ext cx="12191695" cy="640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LAPORAN AUDIT KEAMANAN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APLIKASI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FE0F0"/>
                </a:solidFill>
                <a:latin typeface="Calibri"/>
              </a:rPr>
              <a:t>Vulnerability Assessment terhadap bWAPP (Buggy Web Application)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100584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88888"/>
                </a:solidFill>
                <a:latin typeface="Calibri"/>
              </a:rPr>
              <a:t>Auditor: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Ravi Arnan Irianto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88888"/>
                </a:solidFill>
                <a:latin typeface="Calibri"/>
              </a:rPr>
              <a:t>Mata Kuliah: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IT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88888"/>
                </a:solidFill>
                <a:latin typeface="Calibri"/>
              </a:rPr>
              <a:t>Target: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bWAPP (OWASP)  -  Docker, http://localhost:8080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88888"/>
                </a:solidFill>
                <a:latin typeface="Calibri"/>
              </a:rPr>
              <a:t>Standar: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OWASP Top 10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01  PENGENALAN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Apa itu bWAPP?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bWAPP (Buggy Web Application) adalah aplikasi web PHP/MySQL yang </a:t>
            </a:r>
            <a:r>
              <a:rPr sz="1600" b="1" i="0">
                <a:solidFill>
                  <a:srgbClr val="B30000"/>
                </a:solidFill>
                <a:latin typeface="Calibri"/>
              </a:rPr>
              <a:t>sengaja dibuat rentan</a:t>
            </a:r>
            <a:r>
              <a:rPr sz="1600" b="0" i="0">
                <a:solidFill>
                  <a:srgbClr val="1A1A1A"/>
                </a:solidFill>
                <a:latin typeface="Calibri"/>
              </a:rPr>
              <a:t> untuk tujuan edukasi keamanan, dikembangkan oleh Malik Mesellem. Aplikasi ini menjadi sarana legal untuk mempraktikkan teknik audit dan pengujian penetrasi dalam lingkungan terisolasi.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88920"/>
            <a:ext cx="3566160" cy="201168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109728" cy="20116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35661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003366"/>
                </a:solidFill>
                <a:latin typeface="Calibri"/>
              </a:rPr>
              <a:t>100+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Jenis kerentanan tersistematis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788920"/>
            <a:ext cx="3566160" cy="201168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2788920"/>
            <a:ext cx="109728" cy="20116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3063240"/>
            <a:ext cx="35661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00336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06908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Tingkat kesulitan (Low / Medium / High)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788920"/>
            <a:ext cx="3566160" cy="201168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80" y="2788920"/>
            <a:ext cx="109728" cy="20116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0" y="3063240"/>
            <a:ext cx="356616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00336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06908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Metode deploy (Docker / Bee-Box VM)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888888"/>
                </a:solidFill>
                <a:latin typeface="Calibri"/>
              </a:rPr>
              <a:t>Catatan: bWAPP bukan aplikasi yang error, melainkan dirancang untuk dieksploitasi sebagai media latihan.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02  RELEVANSI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Kenapa bWAPP untuk IT Audit?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21208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4477D"/>
                </a:solidFill>
                <a:latin typeface="Calibri"/>
              </a:rPr>
              <a:t>-  Coverage terluas: </a:t>
            </a:r>
            <a:r>
              <a:rPr sz="1500">
                <a:solidFill>
                  <a:srgbClr val="1A1A1A"/>
                </a:solidFill>
                <a:latin typeface="Calibri"/>
              </a:rPr>
              <a:t>100+ kerentanan dalam satu platform.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4477D"/>
                </a:solidFill>
                <a:latin typeface="Calibri"/>
              </a:rPr>
              <a:t>-  Selaras OWASP: </a:t>
            </a:r>
            <a:r>
              <a:rPr sz="1500">
                <a:solidFill>
                  <a:srgbClr val="1A1A1A"/>
                </a:solidFill>
                <a:latin typeface="Calibri"/>
              </a:rPr>
              <a:t>tiap bug mudah dipetakan ke framework standar.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4477D"/>
                </a:solidFill>
                <a:latin typeface="Calibri"/>
              </a:rPr>
              <a:t>-  Setup cepat: </a:t>
            </a:r>
            <a:r>
              <a:rPr sz="1500">
                <a:solidFill>
                  <a:srgbClr val="1A1A1A"/>
                </a:solidFill>
                <a:latin typeface="Calibri"/>
              </a:rPr>
              <a:t>siap pakai via Docker dalam hitungan menit.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14477D"/>
                </a:solidFill>
                <a:latin typeface="Calibri"/>
              </a:rPr>
              <a:t>-  Bertingkat: </a:t>
            </a:r>
            <a:r>
              <a:rPr sz="1500">
                <a:solidFill>
                  <a:srgbClr val="1A1A1A"/>
                </a:solidFill>
                <a:latin typeface="Calibri"/>
              </a:rPr>
              <a:t>3 level kesulitan untuk simulasi bertahap.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0" y="1417320"/>
          <a:ext cx="548640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18288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marL="88900" marR="88900" marT="38100" marB="381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Jumlah Bug</a:t>
                      </a:r>
                    </a:p>
                  </a:txBody>
                  <a:tcPr marL="88900" marR="88900" marT="38100" marB="38100" anchor="ctr">
                    <a:solidFill>
                      <a:srgbClr val="00336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3366"/>
                          </a:solidFill>
                          <a:latin typeface="Calibri"/>
                        </a:rPr>
                        <a:t>bWAPP</a:t>
                      </a:r>
                    </a:p>
                  </a:txBody>
                  <a:tcPr marL="88900" marR="88900" marT="38100" marB="38100" anchor="ctr">
                    <a:solidFill>
                      <a:srgbClr val="DDE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003366"/>
                          </a:solidFill>
                          <a:latin typeface="Calibri"/>
                        </a:rPr>
                        <a:t>100+</a:t>
                      </a:r>
                    </a:p>
                  </a:txBody>
                  <a:tcPr marL="88900" marR="88900" marT="38100" marB="38100" anchor="ctr">
                    <a:solidFill>
                      <a:srgbClr val="DDEB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Juice Shop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~75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WebGoat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~35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DVWA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~15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26480" y="502920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888888"/>
                </a:solidFill>
                <a:latin typeface="Calibri"/>
              </a:rPr>
              <a:t>bWAPP mengungguli platform sejenis dalam cakupan kerentanan.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03  LINGKUNGAN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Setup dan Lingkungan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477D"/>
                </a:solidFill>
                <a:latin typeface="Calibri"/>
              </a:rPr>
              <a:t>Deployment via Docker (terisolasi ke localhost):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5577840" cy="1371600"/>
          </a:xfrm>
          <a:prstGeom prst="round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5577840" cy="1371600"/>
          </a:xfrm>
          <a:prstGeom prst="rect">
            <a:avLst/>
          </a:prstGeom>
          <a:noFill/>
        </p:spPr>
        <p:txBody>
          <a:bodyPr wrap="square" anchor="ctr" lIns="127000" rIns="101600" tIns="76200" bIns="7620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$ docker run -d -p 8080:80 \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hackersploit/bwapp-docker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# inisialisasi DB sekali: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http://localhost:8080/install.php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5577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14477D"/>
                </a:solidFill>
                <a:latin typeface="Calibri"/>
              </a:rPr>
              <a:t>-  Akses: </a:t>
            </a:r>
            <a:r>
              <a:rPr sz="1400">
                <a:solidFill>
                  <a:srgbClr val="1A1A1A"/>
                </a:solidFill>
                <a:latin typeface="Calibri"/>
              </a:rPr>
              <a:t>http://localhost:8080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14477D"/>
                </a:solidFill>
                <a:latin typeface="Calibri"/>
              </a:rPr>
              <a:t>-  Login: </a:t>
            </a:r>
            <a:r>
              <a:rPr sz="1400">
                <a:solidFill>
                  <a:srgbClr val="1A1A1A"/>
                </a:solidFill>
                <a:latin typeface="Calibri"/>
              </a:rPr>
              <a:t>bee / bug (kredensial lab default)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14477D"/>
                </a:solidFill>
                <a:latin typeface="Calibri"/>
              </a:rPr>
              <a:t>-  Security level: </a:t>
            </a:r>
            <a:r>
              <a:rPr sz="1400">
                <a:solidFill>
                  <a:srgbClr val="1A1A1A"/>
                </a:solidFill>
                <a:latin typeface="Calibri"/>
              </a:rPr>
              <a:t>Low (security_level = 0)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14477D"/>
                </a:solidFill>
                <a:latin typeface="Calibri"/>
              </a:rPr>
              <a:t>-  Stack: </a:t>
            </a:r>
            <a:r>
              <a:rPr sz="1400">
                <a:solidFill>
                  <a:srgbClr val="1A1A1A"/>
                </a:solidFill>
                <a:latin typeface="Calibri"/>
              </a:rPr>
              <a:t>PHP 5.5.9, Apache 2.4.7, MySQL, Ubuntu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691640"/>
            <a:ext cx="5212080" cy="41605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874519"/>
            <a:ext cx="4754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03366"/>
                </a:solidFill>
                <a:latin typeface="Calibri"/>
              </a:rPr>
              <a:t>Ruang Lingkup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377440"/>
            <a:ext cx="4663440" cy="32918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50" b="1">
                <a:solidFill>
                  <a:srgbClr val="14477D"/>
                </a:solidFill>
                <a:latin typeface="Calibri"/>
              </a:rPr>
              <a:t>-  Jenis uji: </a:t>
            </a:r>
            <a:r>
              <a:rPr sz="1350">
                <a:solidFill>
                  <a:srgbClr val="1A1A1A"/>
                </a:solidFill>
                <a:latin typeface="Calibri"/>
              </a:rPr>
              <a:t>black-box dan grey-box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50" b="1">
                <a:solidFill>
                  <a:srgbClr val="14477D"/>
                </a:solidFill>
                <a:latin typeface="Calibri"/>
              </a:rPr>
              <a:t>-  In-scope: </a:t>
            </a:r>
            <a:r>
              <a:rPr sz="1350">
                <a:solidFill>
                  <a:srgbClr val="1A1A1A"/>
                </a:solidFill>
                <a:latin typeface="Calibri"/>
              </a:rPr>
              <a:t>web app layer (injection, XSS, info disclosure, misconfig, header)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50" b="1">
                <a:solidFill>
                  <a:srgbClr val="14477D"/>
                </a:solidFill>
                <a:latin typeface="Calibri"/>
              </a:rPr>
              <a:t>-  Out-of-scope: </a:t>
            </a:r>
            <a:r>
              <a:rPr sz="1350">
                <a:solidFill>
                  <a:srgbClr val="1A1A1A"/>
                </a:solidFill>
                <a:latin typeface="Calibri"/>
              </a:rPr>
              <a:t>audit OS/host, DoS, social engineering, sistem nyata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50" b="1">
                <a:solidFill>
                  <a:srgbClr val="14477D"/>
                </a:solidFill>
                <a:latin typeface="Calibri"/>
              </a:rPr>
              <a:t>-  Sifat: </a:t>
            </a:r>
            <a:r>
              <a:rPr sz="1350">
                <a:solidFill>
                  <a:srgbClr val="1A1A1A"/>
                </a:solidFill>
                <a:latin typeface="Calibri"/>
              </a:rPr>
              <a:t>lab terisolasi, aplikasi sengaja rentan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04  METODOLOGI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Alur Audit: 5 Tahap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064240" cy="8412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700784"/>
            <a:ext cx="548640" cy="54864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4480"/>
            <a:ext cx="274320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03366"/>
                </a:solidFill>
                <a:latin typeface="Calibri"/>
              </a:rPr>
              <a:t>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554480"/>
            <a:ext cx="713232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Deploy bWAPP via Docker dan verifikasi akses.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32888"/>
            <a:ext cx="11064240" cy="8412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" y="2679192"/>
            <a:ext cx="548640" cy="54864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32888"/>
            <a:ext cx="274320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03366"/>
                </a:solidFill>
                <a:latin typeface="Calibri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32888"/>
            <a:ext cx="713232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Pilih kategori kerentanan dan tetapkan level kesulitan.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11296"/>
            <a:ext cx="11064240" cy="8412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3657600"/>
            <a:ext cx="548640" cy="54864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11296"/>
            <a:ext cx="274320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03366"/>
                </a:solidFill>
                <a:latin typeface="Calibri"/>
              </a:rPr>
              <a:t>Pengujian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511296"/>
            <a:ext cx="713232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Scan otomatis, eksploitasi terarah, verifikasi manual.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89704"/>
            <a:ext cx="11064240" cy="8412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4636008"/>
            <a:ext cx="548640" cy="54864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89704"/>
            <a:ext cx="274320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03366"/>
                </a:solidFill>
                <a:latin typeface="Calibri"/>
              </a:rPr>
              <a:t>Analisis &amp;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489704"/>
            <a:ext cx="713232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Petakan ke OWASP Top 10 2021, tetapkan severity.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468112"/>
            <a:ext cx="11064240" cy="841248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5614416"/>
            <a:ext cx="548640" cy="54864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468112"/>
            <a:ext cx="274320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03366"/>
                </a:solidFill>
                <a:latin typeface="Calibri"/>
              </a:rPr>
              <a:t>Pelaporan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468112"/>
            <a:ext cx="713232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Susun temuan, bukti, dan rekomendasi remediasi.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04  METODOLOGI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Tools yang Digunakan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3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554480"/>
                <a:gridCol w="6766560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8900" marR="88900" marT="38100" marB="381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Versi</a:t>
                      </a:r>
                    </a:p>
                  </a:txBody>
                  <a:tcPr marL="88900" marR="88900" marT="38100" marB="381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Fungsi</a:t>
                      </a:r>
                    </a:p>
                  </a:txBody>
                  <a:tcPr marL="88900" marR="88900" marT="38100" marB="38100" anchor="ctr">
                    <a:solidFill>
                      <a:srgbClr val="00336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Nikto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2.1.5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Web server scanner (info disclosure, misconfiguration)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SQLMap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1.10.2.6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Deteksi dan eksploitasi SQL Injection otomatis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OWASP ZAP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2.17.0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Dynamic Application Security Testing (DAST)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Retire.js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5.4.3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Deteksi pustaka JavaScript usang (SCA)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Nmap + vulners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7.94SVN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Deteksi versi layanan dan pemetaan CVE server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Manual (curl, browser)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Verifikasi manual XSS dan kebocoran data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888888"/>
                </a:solidFill>
                <a:latin typeface="Calibri"/>
              </a:rPr>
              <a:t>Kombinasi scan otomatis + eksploitasi terarah + analisis komponen + uji manual untuk menutup blind spot tiap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05  HASIL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Ringkasan Eksekutif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Audit menemukan </a:t>
            </a:r>
            <a:r>
              <a:rPr sz="1600" b="1" i="0">
                <a:solidFill>
                  <a:srgbClr val="003366"/>
                </a:solidFill>
                <a:latin typeface="Calibri"/>
              </a:rPr>
              <a:t>5 area temuan utama</a:t>
            </a:r>
            <a:r>
              <a:rPr sz="1600" b="0" i="0">
                <a:solidFill>
                  <a:srgbClr val="1A1A1A"/>
                </a:solidFill>
                <a:latin typeface="Calibri"/>
              </a:rPr>
              <a:t> dengan severity Medium hingga Critical.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Dua temuan Critical memungkinkan penyerang mengambil alih data sensitif tanpa autentikasi: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30000"/>
                </a:solidFill>
                <a:latin typeface="Calibri"/>
              </a:rPr>
              <a:t>kebocoran kredensial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melalui file konfigurasi yang terekspos, dan </a:t>
            </a:r>
            <a:r>
              <a:rPr sz="1500" b="1" i="0">
                <a:solidFill>
                  <a:srgbClr val="B30000"/>
                </a:solidFill>
                <a:latin typeface="Calibri"/>
              </a:rPr>
              <a:t>SQL Injection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yang membongkar seluruh tabel pengguna termasuk akun admin.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Aplikasi juga rentan XSS, memakai komponen End-of-Life, dan memiliki sejumlah security misconfiguration.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17320"/>
            <a:ext cx="4297680" cy="4480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0020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03366"/>
                </a:solidFill>
                <a:latin typeface="Calibri"/>
              </a:rPr>
              <a:t>Distribusi Severity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240280"/>
            <a:ext cx="2103120" cy="502920"/>
          </a:xfrm>
          <a:prstGeom prst="roundRect">
            <a:avLst/>
          </a:prstGeom>
          <a:solidFill>
            <a:srgbClr val="B3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2240280"/>
            <a:ext cx="21031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2240280"/>
            <a:ext cx="1463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03366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3017520"/>
            <a:ext cx="2103120" cy="502920"/>
          </a:xfrm>
          <a:prstGeom prst="round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017520"/>
            <a:ext cx="21031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3017520"/>
            <a:ext cx="1463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03366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3794760"/>
            <a:ext cx="2103120" cy="502920"/>
          </a:xfrm>
          <a:prstGeom prst="round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3794760"/>
            <a:ext cx="21031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3794760"/>
            <a:ext cx="1463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03366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892040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03366"/>
                </a:solidFill>
                <a:latin typeface="Calibri"/>
              </a:rPr>
              <a:t>Total 5 temuan utama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888888"/>
                </a:solidFill>
                <a:latin typeface="Calibri"/>
              </a:rPr>
              <a:t>(plus 6 temuan Low pendukung)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05  HASIL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Ringkasan Temuan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572000"/>
                <a:gridCol w="1554480"/>
                <a:gridCol w="2286000"/>
                <a:gridCol w="1828800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88900" marR="88900" marT="38100" marB="381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Temuan</a:t>
                      </a:r>
                    </a:p>
                  </a:txBody>
                  <a:tcPr marL="88900" marR="88900" marT="38100" marB="381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88900" marR="88900" marT="38100" marB="381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OWASP 2021</a:t>
                      </a:r>
                    </a:p>
                  </a:txBody>
                  <a:tcPr marL="88900" marR="88900" marT="38100" marB="38100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8900" marR="88900" marT="38100" marB="38100" anchor="ctr">
                    <a:solidFill>
                      <a:srgbClr val="00336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F-01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Sensitive Data Exposure (kredensial bocor)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88900" marR="88900" marT="38100" marB="38100" anchor="ctr">
                    <a:solidFill>
                      <a:srgbClr val="B3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A01, A02, A05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Nikto + manual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F-02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SQL Injection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88900" marR="88900" marT="38100" marB="38100" anchor="ctr">
                    <a:solidFill>
                      <a:srgbClr val="B3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A03, A02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SQLMap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F-03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Cross-Site Scripting (Reflected + Stored)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8900" marR="88900" marT="38100" marB="38100" anchor="ctr">
                    <a:solidFill>
                      <a:srgbClr val="E862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A03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Manual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F-04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Misconfiguration &amp; Missing Headers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8900" marR="88900" marT="38100" marB="38100" anchor="ctr">
                    <a:solidFill>
                      <a:srgbClr val="E0A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A05, A01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OWASP ZAP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F-05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Vulnerable &amp; Outdated Components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8900" marR="88900" marT="38100" marB="38100" anchor="ctr">
                    <a:solidFill>
                      <a:srgbClr val="E862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A06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Retire.js + Nmap</a:t>
                      </a:r>
                    </a:p>
                  </a:txBody>
                  <a:tcPr marL="88900" marR="88900" marT="38100" marB="38100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3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06  TEMUAN TERPERINCI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F-01   Sensitive Data Exposure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347472"/>
            <a:ext cx="1417320" cy="384048"/>
          </a:xfrm>
          <a:prstGeom prst="roundRect">
            <a:avLst/>
          </a:prstGeom>
          <a:solidFill>
            <a:srgbClr val="B3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4477D"/>
                </a:solidFill>
                <a:latin typeface="Calibri"/>
              </a:rPr>
              <a:t>OWASP 2021: 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A01 Broken Access Control, A02 Cryptographic Failures, A05 Security Misconfiguration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File konfigurasi dan backup berisi kredensial dapat diakses publik tanpa autentikasi. Directory indexing yang aktif menampilkan isi folder sensitif seperti /passwords/.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03366"/>
                </a:solidFill>
                <a:latin typeface="Calibri"/>
              </a:rPr>
              <a:t>Bukti: config.inc terekspos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71800"/>
            <a:ext cx="5486400" cy="2194560"/>
          </a:xfrm>
          <a:prstGeom prst="round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71800"/>
            <a:ext cx="5486400" cy="2194560"/>
          </a:xfrm>
          <a:prstGeom prst="rect">
            <a:avLst/>
          </a:prstGeom>
          <a:noFill/>
        </p:spPr>
        <p:txBody>
          <a:bodyPr wrap="square" anchor="ctr" lIns="127000" rIns="101600" tIns="76200" bIns="7620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$ curl http://localhost:8080/config.inc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$server   = "localhost";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$username = "bwapp";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$password = "bwApped";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$database = "bWAPP";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/passwords/  -&gt; heroes.xml, web.config.bak,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       wp-config.bak (password plaintext)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03520"/>
            <a:ext cx="5486400" cy="960120"/>
          </a:xfrm>
          <a:prstGeom prst="round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303520"/>
            <a:ext cx="109728" cy="960120"/>
          </a:xfrm>
          <a:prstGeom prst="rect">
            <a:avLst/>
          </a:prstGeom>
          <a:solidFill>
            <a:srgbClr val="B3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94960"/>
            <a:ext cx="5120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4477D"/>
                </a:solidFill>
                <a:latin typeface="Calibri"/>
              </a:rPr>
              <a:t>Dampak: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kredensial DB diperoleh tanpa eksploitasi, berpotensi full database compromise.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606040"/>
            <a:ext cx="5303520" cy="3657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7432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03366"/>
                </a:solidFill>
                <a:latin typeface="Calibri"/>
              </a:rPr>
              <a:t>Rekomendasi Remediasi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200400"/>
            <a:ext cx="4892040" cy="2926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Matikan directory indexing (Options -Indexes).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Hapus file backup (.bak, .inc, .old) dari web root.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Pindahkan file konfigurasi ke luar document root.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Jangan simpan password plaintext, gunakan hashing kuat.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Hapus installer (install.php) setelah instalasi.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3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06  TEMUAN TERPERINCI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F-02   SQL Injection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347472"/>
            <a:ext cx="1417320" cy="384048"/>
          </a:xfrm>
          <a:prstGeom prst="roundRect">
            <a:avLst/>
          </a:prstGeom>
          <a:solidFill>
            <a:srgbClr val="B3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4477D"/>
                </a:solidFill>
                <a:latin typeface="Calibri"/>
              </a:rPr>
              <a:t>OWASP 2021: 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A03 Injection, A02 Cryptographic Failures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Parameter title pada modul SQL Injection (GET/Search) tidak disanitasi, sehingga input pengguna dieksekusi langsung sebagai bagian dari query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03366"/>
                </a:solidFill>
                <a:latin typeface="Calibri"/>
              </a:rPr>
              <a:t>Bukti: SQLMap dump bWAPP.users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71800"/>
            <a:ext cx="5486400" cy="2194560"/>
          </a:xfrm>
          <a:prstGeom prst="round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71800"/>
            <a:ext cx="5486400" cy="2194560"/>
          </a:xfrm>
          <a:prstGeom prst="rect">
            <a:avLst/>
          </a:prstGeom>
          <a:noFill/>
        </p:spPr>
        <p:txBody>
          <a:bodyPr wrap="square" anchor="ctr" lIns="127000" rIns="101600" tIns="76200" bIns="7620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Parameter 'title' rentan 4 teknik: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boolean-blind, error, time-blind, UNION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Database: bWAPP  Table: users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id | login  | admin | password (SHA1)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1  | A.I.M. |  1    | 6885858486...affd0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2  | bee    |  1    | 6885858486...affd0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echo -n "bug" | sha1sum -&gt; match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Password admin dipulihkan: "bug"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03520"/>
            <a:ext cx="5486400" cy="960120"/>
          </a:xfrm>
          <a:prstGeom prst="round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303520"/>
            <a:ext cx="109728" cy="960120"/>
          </a:xfrm>
          <a:prstGeom prst="rect">
            <a:avLst/>
          </a:prstGeom>
          <a:solidFill>
            <a:srgbClr val="B3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94960"/>
            <a:ext cx="5120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4477D"/>
                </a:solidFill>
                <a:latin typeface="Calibri"/>
              </a:rPr>
              <a:t>Dampak: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akses baca penuh ke database; hash SHA1 unsalted mudah dipecahkan.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606040"/>
            <a:ext cx="5303520" cy="3657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7432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03366"/>
                </a:solidFill>
                <a:latin typeface="Calibri"/>
              </a:rPr>
              <a:t>Rekomendasi Remediasi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200400"/>
            <a:ext cx="4892040" cy="2926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Gunakan prepared statements / parameterized query (PDO, MySQLi).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Terapkan input validation berbasis whitelist.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Ganti hashing password ke bcrypt atau argon2 dengan salt unik.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Terapkan least privilege pada akun database aplikasi.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06  TEMUAN TERPERINCI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F-03   Cross-Site Scripting (XSS)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347472"/>
            <a:ext cx="1417320" cy="384048"/>
          </a:xfrm>
          <a:prstGeom prst="round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4477D"/>
                </a:solidFill>
                <a:latin typeface="Calibri"/>
              </a:rPr>
              <a:t>OWASP 2021: 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A03 Injection (Cross-Site Scripting)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Aplikasi tidak melakukan output encoding maupun sanitasi input. Ditemukan dua varian: Reflected (GET) dan Stored (Blog) yang tersimpan permanen.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03366"/>
                </a:solidFill>
                <a:latin typeface="Calibri"/>
              </a:rPr>
              <a:t>Bukti: payload tereksekusi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71800"/>
            <a:ext cx="5486400" cy="2194560"/>
          </a:xfrm>
          <a:prstGeom prst="round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71800"/>
            <a:ext cx="5486400" cy="2194560"/>
          </a:xfrm>
          <a:prstGeom prst="rect">
            <a:avLst/>
          </a:prstGeom>
          <a:noFill/>
        </p:spPr>
        <p:txBody>
          <a:bodyPr wrap="square" anchor="ctr" lIns="127000" rIns="101600" tIns="76200" bIns="7620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Reflected (xss_get.php, param firstname):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Welcome &lt;script&gt;alert('XSS-bWAPP')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&lt;/script&gt; test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Stored (xss_stored_1.php):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&lt;td&gt;&lt;script&gt;alert('Stored-XSS-by-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Audit')&lt;/script&gt;&lt;/td&gt;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(payload stored telah dibersihkan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setelah verifikasi)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03520"/>
            <a:ext cx="5486400" cy="960120"/>
          </a:xfrm>
          <a:prstGeom prst="round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303520"/>
            <a:ext cx="109728" cy="96012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94960"/>
            <a:ext cx="5120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4477D"/>
                </a:solidFill>
                <a:latin typeface="Calibri"/>
              </a:rPr>
              <a:t>Dampak: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pencurian session cookie, session hijacking, defacement, phishing. Diperparah cookie tanpa HttpOnly.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606040"/>
            <a:ext cx="5303520" cy="3657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7432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03366"/>
                </a:solidFill>
                <a:latin typeface="Calibri"/>
              </a:rPr>
              <a:t>Rekomendasi Remediasi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200400"/>
            <a:ext cx="4892040" cy="2926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Terapkan output encoding sesuai konteks (htmlspecialchars).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Lakukan input validation di sisi server.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Pasang Content Security Policy (CSP).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Set flag HttpOnly dan Secure pada cookie session.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06  TEMUAN TERPERINCI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F-04   Security Misconfiguration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347472"/>
            <a:ext cx="1417320" cy="384048"/>
          </a:xfrm>
          <a:prstGeom prst="round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MEDIUM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4477D"/>
                </a:solidFill>
                <a:latin typeface="Calibri"/>
              </a:rPr>
              <a:t>OWASP 2021: 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A05 Security Misconfiguration, A01 Broken Access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OWASP ZAP menemukan sejumlah kesalahan konfigurasi dan header keamanan yang hilang: total 5 temuan Medium dan 6 temuan Low pendukung.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03366"/>
                </a:solidFill>
                <a:latin typeface="Calibri"/>
              </a:rPr>
              <a:t>Bukti: temuan Medium dari ZAP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71800"/>
            <a:ext cx="5486400" cy="2194560"/>
          </a:xfrm>
          <a:prstGeom prst="round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71800"/>
            <a:ext cx="5486400" cy="2194560"/>
          </a:xfrm>
          <a:prstGeom prst="rect">
            <a:avLst/>
          </a:prstGeom>
          <a:noFill/>
        </p:spPr>
        <p:txBody>
          <a:bodyPr wrap="square" anchor="ctr" lIns="127000" rIns="101600" tIns="76200" bIns="7620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- Absence of Anti-CSRF Tokens   (CWE-352)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- Application Error Disclosure  (CWE-550)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- CSP Header Not Set            (CWE-693)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- Directory Browsing            (CWE-548)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- Missing Anti-clickjacking     (CWE-1021)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Low: cookie tanpa HttpOnly/SameSite,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banner Apache/2.4.7 &amp; PHP/5.5.9 bocor,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X-Content-Type-Options tak diset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03520"/>
            <a:ext cx="5486400" cy="960120"/>
          </a:xfrm>
          <a:prstGeom prst="round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303520"/>
            <a:ext cx="109728" cy="960120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94960"/>
            <a:ext cx="5120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4477D"/>
                </a:solidFill>
                <a:latin typeface="Calibri"/>
              </a:rPr>
              <a:t>Dampak: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memperbesar peluang CSRF, clickjacking, dan info disclosure bagi penyerang.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606040"/>
            <a:ext cx="5303520" cy="3657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7432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03366"/>
                </a:solidFill>
                <a:latin typeface="Calibri"/>
              </a:rPr>
              <a:t>Rekomendasi Remediasi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200400"/>
            <a:ext cx="4892040" cy="2926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Tambahkan token Anti-CSRF unik pada setiap form pengubah state.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Set header CSP, X-Frame-Options, X-Content-Type-Options: nosniff.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Set flag HttpOnly, Secure, SameSite pada cookie.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Gunakan custom error page; sembunyikan banner versi server.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Update komponen EOL (PHP 5.5.9, Apache 2.4.7).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06  TEMUAN TERPERINCI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8686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F-05   Vulnerable &amp; Outdated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347472"/>
            <a:ext cx="1417320" cy="384048"/>
          </a:xfrm>
          <a:prstGeom prst="round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4477D"/>
                </a:solidFill>
                <a:latin typeface="Calibri"/>
              </a:rPr>
              <a:t>OWASP 2021: 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A06 Vulnerable and Outdated 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Aplikasi berjalan di atas komponen End-of-Life pada sisi klien (jQuery) dan server (Apache, PHP) yang tidak lagi menerima patch keamanan.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03366"/>
                </a:solidFill>
                <a:latin typeface="Calibri"/>
              </a:rPr>
              <a:t>Bukti: Retire.js + Nmap vulners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71800"/>
            <a:ext cx="5486400" cy="2194560"/>
          </a:xfrm>
          <a:prstGeom prst="round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71800"/>
            <a:ext cx="5486400" cy="2194560"/>
          </a:xfrm>
          <a:prstGeom prst="rect">
            <a:avLst/>
          </a:prstGeom>
          <a:noFill/>
        </p:spPr>
        <p:txBody>
          <a:bodyPr wrap="square" anchor="ctr" lIns="127000" rIns="101600" tIns="76200" bIns="7620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jQuery 1.4.4 (2010, EOL) -&gt; 7 kerentanan: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CVE-2020-11023, CVE-2019-11358,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CVE-2020-7656, CVE-2015-9251, dll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Apache httpd 2.4.7 (Ubuntu):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vulners cocokkan 106 CVE unik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(Critical 24 | High 42 | Medium 40)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PHP 5.5.9 -&gt; EOL sejak Juli 2016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03520"/>
            <a:ext cx="5486400" cy="960120"/>
          </a:xfrm>
          <a:prstGeom prst="round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303520"/>
            <a:ext cx="109728" cy="96012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94960"/>
            <a:ext cx="5120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4477D"/>
                </a:solidFill>
                <a:latin typeface="Calibri"/>
              </a:rPr>
              <a:t>Dampak:  </a:t>
            </a:r>
            <a:r>
              <a:rPr sz="1250" b="0" i="0">
                <a:solidFill>
                  <a:srgbClr val="1A1A1A"/>
                </a:solidFill>
                <a:latin typeface="Calibri"/>
              </a:rPr>
              <a:t>permukaan serangan luas (XSS, prototype pollution, request smuggling) dengan banyak exploit publik.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606040"/>
            <a:ext cx="5303520" cy="3657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7432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03366"/>
                </a:solidFill>
                <a:latin typeface="Calibri"/>
              </a:rPr>
              <a:t>Rekomendasi Remediasi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200400"/>
            <a:ext cx="4892040" cy="2926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Perbarui jQuery ke versi didukung (3.5.0+).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Update Apache; migrasikan PHP 5.5.9 ke PHP 8.x.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Terapkan patch management dan SCA berkala.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-  Catatan: skor per-CVE bersifat potensial (berbasis banner); fakta EOL yang terkonfirmasi bernilai High.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07  CATATAN METODOLOGI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Keterbatasan Automated Scanner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1143000"/>
          </a:xfrm>
          <a:prstGeom prst="roundRect">
            <a:avLst/>
          </a:prstGeom>
          <a:solidFill>
            <a:srgbClr val="FFF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128016" cy="1143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10515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B30000"/>
                </a:solidFill>
                <a:latin typeface="Calibri"/>
              </a:rPr>
              <a:t>OWASP ZAP melaporkan 0 temuan High</a:t>
            </a:r>
            <a:r>
              <a:rPr sz="1600" b="0" i="0">
                <a:solidFill>
                  <a:srgbClr val="1A1A1A"/>
                </a:solidFill>
                <a:latin typeface="Calibri"/>
              </a:rPr>
              <a:t>, padahal pengujian manual dan SQLMap membuktikan adanya SQL Injection (Critical) dan Stored XSS (High) pada aplikasi yang sama.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110642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Penyebab: ZAP hanya meng-crawl halaman permukaan dan tidak masuk ke modul kerentanan di balik autentikasi atau yang tidak ter-link otomatis. Automated DAST scanner memiliki blind spot, sehingga audit yang baik wajib mengombinasikan scan otomatis, eksploitasi terarah, dan uji manual.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03366"/>
                </a:solidFill>
                <a:latin typeface="Calibri"/>
              </a:rPr>
              <a:t>Cross-Validation (dikonfirmasi 2 tool berbeda: Nikto + ZAP)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43400"/>
            <a:ext cx="10515600" cy="18288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Directory Browsing aktif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Kebocoran banner versi server (Apache/2.4.7)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Missing X-Frame-Options (anti-clickjacking)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Cookie session tanpa flag HttpOnly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08  ETIKA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Best Practice dan Keamanan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4480560"/>
          </a:xfrm>
          <a:prstGeom prst="round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7A1E"/>
                </a:solidFill>
                <a:latin typeface="Calibri"/>
              </a:rPr>
              <a:t>YANG HARUS DILAKUKAN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484632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Bind Docker hanya ke localhost.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Gunakan Host-only Adapter pada VM.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Ambil snapshot sebelum eksploitasi.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Dokumentasikan setiap langkah (payload, screenshot, respons).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Bersihkan payload stored setelah verifikasi.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394960" cy="4480560"/>
          </a:xfrm>
          <a:prstGeom prst="roundRect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B30000"/>
                </a:solidFill>
                <a:latin typeface="Calibri"/>
              </a:rPr>
              <a:t>YANG TIDAK BOLEH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94560"/>
            <a:ext cx="484632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Expose port ke jaringan publik.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Menjalankan di komputer produksi.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Menggunakan payload terhadap target nyata tanpa izin tertulis (ilegal).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-  Memperlakukan data dump sebagai kredensial nyata (ini user seeded bWAPP).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09  KESIMPULAN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Kesimpulan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146304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C5E8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41148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700" b="1">
                <a:solidFill>
                  <a:srgbClr val="14477D"/>
                </a:solidFill>
                <a:latin typeface="Calibri"/>
              </a:rPr>
              <a:t>-  Kerentanan serius dan beragam. </a:t>
            </a:r>
            <a:r>
              <a:rPr sz="1700">
                <a:solidFill>
                  <a:srgbClr val="1A1A1A"/>
                </a:solidFill>
                <a:latin typeface="Calibri"/>
              </a:rPr>
              <a:t>bWAPP mencakup mayoritas kategori OWASP Top 10 2021.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700" b="1">
                <a:solidFill>
                  <a:srgbClr val="14477D"/>
                </a:solidFill>
                <a:latin typeface="Calibri"/>
              </a:rPr>
              <a:t>-  Dua Critical jadi prioritas. </a:t>
            </a:r>
            <a:r>
              <a:rPr sz="1700">
                <a:solidFill>
                  <a:srgbClr val="1A1A1A"/>
                </a:solidFill>
                <a:latin typeface="Calibri"/>
              </a:rPr>
              <a:t>Sensitive Data Exposure dan SQL Injection memungkinkan kompromi data langsung.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700" b="1">
                <a:solidFill>
                  <a:srgbClr val="14477D"/>
                </a:solidFill>
                <a:latin typeface="Calibri"/>
              </a:rPr>
              <a:t>-  Komponen usang memperluas serangan. </a:t>
            </a:r>
            <a:r>
              <a:rPr sz="1700">
                <a:solidFill>
                  <a:srgbClr val="1A1A1A"/>
                </a:solidFill>
                <a:latin typeface="Calibri"/>
              </a:rPr>
              <a:t>A06: jQuery 1.4.4, Apache 2.4.7, dan PHP 5.5.9 sudah End-of-Life.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700" b="1">
                <a:solidFill>
                  <a:srgbClr val="14477D"/>
                </a:solidFill>
                <a:latin typeface="Calibri"/>
              </a:rPr>
              <a:t>-  Kombinasi metode terbukti penting. </a:t>
            </a:r>
            <a:r>
              <a:rPr sz="1700">
                <a:solidFill>
                  <a:srgbClr val="1A1A1A"/>
                </a:solidFill>
                <a:latin typeface="Calibri"/>
              </a:rPr>
              <a:t>Tidak ada satu tool pun yang menemukan seluruh kerentanan.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700" b="1">
                <a:solidFill>
                  <a:srgbClr val="14477D"/>
                </a:solidFill>
                <a:latin typeface="Calibri"/>
              </a:rPr>
              <a:t>-  Media latihan audit yang efektif. </a:t>
            </a:r>
            <a:r>
              <a:rPr sz="1700">
                <a:solidFill>
                  <a:srgbClr val="1A1A1A"/>
                </a:solidFill>
                <a:latin typeface="Calibri"/>
              </a:rPr>
              <a:t>Dari identifikasi, eksploitasi, hingga rekomendasi selaras standar industri.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88888"/>
                </a:solidFill>
                <a:latin typeface="Calibri"/>
              </a:rPr>
              <a:t>Audit Keamanan bWAPP  |  IT Audit  |  Ravi Arnan Irianto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640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CFE0F0"/>
                </a:solidFill>
                <a:latin typeface="Calibri"/>
              </a:rPr>
              <a:t>Ada pertanyaan?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888888"/>
                </a:solidFill>
                <a:latin typeface="Calibri"/>
              </a:rPr>
              <a:t>Auditor: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Ravi Arnan Irianto  -  Mata Kuliah IT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888888"/>
                </a:solidFill>
                <a:latin typeface="Calibri"/>
              </a:rPr>
              <a:t>Demo cepat: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http://localhost:8080   (login bee / bug)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888888"/>
                </a:solidFill>
                <a:latin typeface="Calibri"/>
              </a:rPr>
              <a:t>Referensi: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owasp.org/Top10  -  itsecgames.com  -  cheatsheetseries.owasp.org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